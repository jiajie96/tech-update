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08376" y="932688"/>
            <a:ext cx="566928" cy="566928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0964" y="1065276"/>
            <a:ext cx="301752" cy="30175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867912" y="932688"/>
            <a:ext cx="566928" cy="566928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0" y="1065276"/>
            <a:ext cx="301752" cy="30175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727448" y="932688"/>
            <a:ext cx="566928" cy="566928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6" y="1065276"/>
            <a:ext cx="301752" cy="301752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586984" y="932688"/>
            <a:ext cx="566928" cy="566928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9572" y="1065276"/>
            <a:ext cx="301752" cy="30175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48640" y="18288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× CAD &amp; 3D Geometry</a:t>
            </a:r>
            <a:endParaRPr lang="en-US" sz="4000" dirty="0"/>
          </a:p>
        </p:txBody>
      </p:sp>
      <p:sp>
        <p:nvSpPr>
          <p:cNvPr id="11" name="Text 5"/>
          <p:cNvSpPr/>
          <p:nvPr/>
        </p:nvSpPr>
        <p:spPr>
          <a:xfrm>
            <a:off x="548640" y="2651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players to watch: Physna · Metafold 3D · Siemens IFM · Mistral AI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548640" y="4251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research briefing · compiled July 7, 2026 · web-sourced; single-source claims flagged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landscape at a glance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4160520" cy="1901952"/>
          </a:xfrm>
          <a:prstGeom prst="roundRect">
            <a:avLst>
              <a:gd name="adj" fmla="val 336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3504" y="109728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1184148"/>
            <a:ext cx="192024" cy="1920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10607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Physna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078992" y="131673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search &amp; 3D data intelligence — Cincinnati, est. 2015</a:t>
            </a:r>
            <a:endParaRPr lang="en-US" sz="870" dirty="0"/>
          </a:p>
        </p:txBody>
      </p:sp>
      <p:sp>
        <p:nvSpPr>
          <p:cNvPr id="9" name="Text 6"/>
          <p:cNvSpPr/>
          <p:nvPr/>
        </p:nvSpPr>
        <p:spPr>
          <a:xfrm>
            <a:off x="640080" y="166420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250"/>
              </a:spcAft>
              <a:buSzPct val="100000"/>
              <a:buChar char="•"/>
            </a:pPr>
            <a:r>
              <a:rPr lang="en-US" sz="9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~$86M raised</a:t>
            </a:r>
            <a:pPr algn="l" indent="0" marL="0">
              <a:spcAft>
                <a:spcPts val="250"/>
              </a:spcAft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(Sequoia, Tiger Global, GV, Drive); nothing new since 2021</a:t>
            </a:r>
            <a:endParaRPr lang="en-US" sz="930" dirty="0"/>
          </a:p>
          <a:p>
            <a:pPr algn="l" marL="127000" indent="-127000">
              <a:spcAft>
                <a:spcPts val="250"/>
              </a:spcAft>
              <a:buSzPct val="100000"/>
              <a:buChar char="•"/>
            </a:pPr>
            <a:r>
              <a:rPr lang="en-US" sz="9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“Physical DNA”</a:t>
            </a:r>
            <a:pPr algn="l" indent="0" marL="0">
              <a:spcAft>
                <a:spcPts val="250"/>
              </a:spcAft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codifies any CAD/mesh into a searchable fingerprint</a:t>
            </a:r>
            <a:endParaRPr lang="en-US" sz="930" dirty="0"/>
          </a:p>
          <a:p>
            <a:pPr algn="l" marL="127000" indent="-127000">
              <a:spcAft>
                <a:spcPts val="250"/>
              </a:spcAft>
              <a:buSzPct val="100000"/>
              <a:buChar char="•"/>
            </a:pPr>
            <a:r>
              <a:rPr lang="en-US" sz="9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Pivoted to defense:</a:t>
            </a:r>
            <a:pPr algn="l" indent="0" marL="0">
              <a:spcAft>
                <a:spcPts val="250"/>
              </a:spcAft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Palantir tie-up, DoD parts repository; sold Thangs to Shapeways</a:t>
            </a:r>
            <a:endParaRPr lang="en-US" sz="930" dirty="0"/>
          </a:p>
        </p:txBody>
      </p:sp>
      <p:sp>
        <p:nvSpPr>
          <p:cNvPr id="10" name="Text 7"/>
          <p:cNvSpPr/>
          <p:nvPr/>
        </p:nvSpPr>
        <p:spPr>
          <a:xfrm>
            <a:off x="640080" y="257860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3D data / search layer — analytic, not generative.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4709160" y="969264"/>
            <a:ext cx="4160520" cy="1901952"/>
          </a:xfrm>
          <a:prstGeom prst="roundRect">
            <a:avLst>
              <a:gd name="adj" fmla="val 336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55464" y="109728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332" y="1184148"/>
            <a:ext cx="192024" cy="1920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30952" y="10607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Metafold 3D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330952" y="131673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geometry kernel as a cloud API — Toronto, est. 2020</a:t>
            </a:r>
            <a:endParaRPr lang="en-US" sz="870" dirty="0"/>
          </a:p>
        </p:txBody>
      </p:sp>
      <p:sp>
        <p:nvSpPr>
          <p:cNvPr id="16" name="Text 12"/>
          <p:cNvSpPr/>
          <p:nvPr/>
        </p:nvSpPr>
        <p:spPr>
          <a:xfrm>
            <a:off x="4892040" y="166420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250"/>
              </a:spcAft>
              <a:buSzPct val="100000"/>
              <a:buChar char="•"/>
            </a:pPr>
            <a:r>
              <a:rPr lang="en-US" sz="9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~CA$2.85M raised</a:t>
            </a:r>
            <a:pPr algn="l" indent="0" marL="0">
              <a:spcAft>
                <a:spcPts val="250"/>
              </a:spcAft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(Differential Ventures seed ’23); team &lt;25, math-PhD founders</a:t>
            </a:r>
            <a:endParaRPr lang="en-US" sz="930" dirty="0"/>
          </a:p>
          <a:p>
            <a:pPr algn="l" marL="127000" indent="-127000">
              <a:spcAft>
                <a:spcPts val="250"/>
              </a:spcAft>
              <a:buSzPct val="100000"/>
              <a:buChar char="•"/>
            </a:pPr>
            <a:r>
              <a:rPr lang="en-US" sz="9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SDF-based kernel:</a:t>
            </a:r>
            <a:pPr algn="l" indent="0" marL="0">
              <a:spcAft>
                <a:spcPts val="250"/>
              </a:spcAft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lattices/TPMS at scales meshes and B-reps can’t handle</a:t>
            </a:r>
            <a:endParaRPr lang="en-US" sz="930" dirty="0"/>
          </a:p>
          <a:p>
            <a:pPr algn="l" marL="127000" indent="-127000">
              <a:spcAft>
                <a:spcPts val="250"/>
              </a:spcAft>
              <a:buSzPct val="100000"/>
              <a:buChar char="•"/>
            </a:pPr>
            <a:r>
              <a:rPr lang="en-US" sz="9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2025–26 pivot:</a:t>
            </a:r>
            <a:pPr algn="l" indent="0" marL="0">
              <a:spcAft>
                <a:spcPts val="250"/>
              </a:spcAft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“Geometric Intelligence” — ML-ready shape features via API</a:t>
            </a:r>
            <a:endParaRPr lang="en-US" sz="930" dirty="0"/>
          </a:p>
        </p:txBody>
      </p:sp>
      <p:sp>
        <p:nvSpPr>
          <p:cNvPr id="17" name="Text 13"/>
          <p:cNvSpPr/>
          <p:nvPr/>
        </p:nvSpPr>
        <p:spPr>
          <a:xfrm>
            <a:off x="4892040" y="257860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infrastructure for other people’s AI pipelines.</a:t>
            </a:r>
            <a:endParaRPr lang="en-US" sz="930" dirty="0"/>
          </a:p>
        </p:txBody>
      </p:sp>
      <p:sp>
        <p:nvSpPr>
          <p:cNvPr id="18" name="Shape 14"/>
          <p:cNvSpPr/>
          <p:nvPr/>
        </p:nvSpPr>
        <p:spPr>
          <a:xfrm>
            <a:off x="457200" y="2999232"/>
            <a:ext cx="4160520" cy="1901952"/>
          </a:xfrm>
          <a:prstGeom prst="roundRect">
            <a:avLst>
              <a:gd name="adj" fmla="val 336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3504" y="312724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3214116"/>
            <a:ext cx="192024" cy="1920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78992" y="30906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Siemens IFM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1078992" y="33467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Foundation Model — announced Hannover Messe, Mar 2025</a:t>
            </a:r>
            <a:endParaRPr lang="en-US" sz="870" dirty="0"/>
          </a:p>
        </p:txBody>
      </p:sp>
      <p:sp>
        <p:nvSpPr>
          <p:cNvPr id="23" name="Text 18"/>
          <p:cNvSpPr/>
          <p:nvPr/>
        </p:nvSpPr>
        <p:spPr>
          <a:xfrm>
            <a:off x="640080" y="3694176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250"/>
              </a:spcAft>
              <a:buSzPct val="100000"/>
              <a:buChar char="•"/>
            </a:pPr>
            <a:r>
              <a:rPr lang="en-US" sz="9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Microsoft</a:t>
            </a:r>
            <a:pPr algn="l" indent="0" marL="0">
              <a:spcAft>
                <a:spcPts val="250"/>
              </a:spcAft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Azure; claimed 150 PB of engineering data + patents</a:t>
            </a:r>
            <a:endParaRPr lang="en-US" sz="930" dirty="0"/>
          </a:p>
          <a:p>
            <a:pPr algn="l" marL="127000" indent="-127000">
              <a:spcAft>
                <a:spcPts val="250"/>
              </a:spcAft>
              <a:buSzPct val="100000"/>
              <a:buChar char="•"/>
            </a:pPr>
            <a:r>
              <a:rPr lang="en-US" sz="9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Multimodal:</a:t>
            </a:r>
            <a:pPr algn="l" indent="0" marL="0">
              <a:spcAft>
                <a:spcPts val="250"/>
              </a:spcAft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3D CAD, 2D drawings, BOMs, simulation, toolpaths, time-series</a:t>
            </a:r>
            <a:endParaRPr lang="en-US" sz="930" dirty="0"/>
          </a:p>
          <a:p>
            <a:pPr algn="l" marL="127000" indent="-127000">
              <a:spcAft>
                <a:spcPts val="250"/>
              </a:spcAft>
              <a:buSzPct val="100000"/>
              <a:buChar char="•"/>
            </a:pPr>
            <a:r>
              <a:rPr lang="en-US" sz="9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via copilots:</a:t>
            </a:r>
            <a:pPr algn="l" indent="0" marL="0">
              <a:spcAft>
                <a:spcPts val="250"/>
              </a:spcAft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NX, Solid Edge, Teamcenter + Eigen PLC agent (Apr 2026)</a:t>
            </a:r>
            <a:endParaRPr lang="en-US" sz="930" dirty="0"/>
          </a:p>
        </p:txBody>
      </p:sp>
      <p:sp>
        <p:nvSpPr>
          <p:cNvPr id="24" name="Text 19"/>
          <p:cNvSpPr/>
          <p:nvPr/>
        </p:nvSpPr>
        <p:spPr>
          <a:xfrm>
            <a:off x="640080" y="460857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incumbent bet: a foundation model that “speaks engineering.”</a:t>
            </a:r>
            <a:endParaRPr lang="en-US" sz="930" dirty="0"/>
          </a:p>
        </p:txBody>
      </p:sp>
      <p:sp>
        <p:nvSpPr>
          <p:cNvPr id="25" name="Shape 20"/>
          <p:cNvSpPr/>
          <p:nvPr/>
        </p:nvSpPr>
        <p:spPr>
          <a:xfrm>
            <a:off x="4709160" y="2999232"/>
            <a:ext cx="4160520" cy="1901952"/>
          </a:xfrm>
          <a:prstGeom prst="roundRect">
            <a:avLst>
              <a:gd name="adj" fmla="val 336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855464" y="312724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2332" y="3214116"/>
            <a:ext cx="192024" cy="19202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330952" y="30906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Mistral AI × CAD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5330952" y="33467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physics-AI layer beneath others’ CAD tools — Paris</a:t>
            </a:r>
            <a:endParaRPr lang="en-US" sz="870" dirty="0"/>
          </a:p>
        </p:txBody>
      </p:sp>
      <p:sp>
        <p:nvSpPr>
          <p:cNvPr id="30" name="Text 24"/>
          <p:cNvSpPr/>
          <p:nvPr/>
        </p:nvSpPr>
        <p:spPr>
          <a:xfrm>
            <a:off x="4892040" y="3694176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250"/>
              </a:spcAft>
              <a:buSzPct val="100000"/>
              <a:buChar char="•"/>
            </a:pPr>
            <a:r>
              <a:rPr lang="en-US" sz="9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text-to-CAD product</a:t>
            </a:r>
            <a:pPr algn="l" indent="0" marL="0">
              <a:spcAft>
                <a:spcPts val="250"/>
              </a:spcAft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its own — role is enabling, not front-end</a:t>
            </a:r>
            <a:endParaRPr lang="en-US" sz="930" dirty="0"/>
          </a:p>
          <a:p>
            <a:pPr algn="l" marL="127000" indent="-127000">
              <a:spcAft>
                <a:spcPts val="250"/>
              </a:spcAft>
              <a:buSzPct val="100000"/>
              <a:buChar char="•"/>
            </a:pPr>
            <a:r>
              <a:rPr lang="en-US" sz="9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SOLIDWORKS agents</a:t>
            </a:r>
            <a:pPr algn="l" indent="0" marL="0">
              <a:spcAft>
                <a:spcPts val="250"/>
              </a:spcAft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(Aura/Marie/Leo) on Dassault’s sovereign cloud</a:t>
            </a:r>
            <a:endParaRPr lang="en-US" sz="930" dirty="0"/>
          </a:p>
          <a:p>
            <a:pPr algn="l" marL="127000" indent="-127000">
              <a:spcAft>
                <a:spcPts val="250"/>
              </a:spcAft>
              <a:buSzPct val="100000"/>
              <a:buChar char="•"/>
            </a:pPr>
            <a:r>
              <a:rPr lang="en-US" sz="9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Emmi AI buy (May ’26):</a:t>
            </a:r>
            <a:pPr algn="l" indent="0" marL="0">
              <a:spcAft>
                <a:spcPts val="250"/>
              </a:spcAft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physics surrogates; Airbus, BMW, ASML, Stellantis deals</a:t>
            </a:r>
            <a:endParaRPr lang="en-US" sz="930" dirty="0"/>
          </a:p>
        </p:txBody>
      </p:sp>
      <p:sp>
        <p:nvSpPr>
          <p:cNvPr id="31" name="Text 25"/>
          <p:cNvSpPr/>
          <p:nvPr/>
        </p:nvSpPr>
        <p:spPr>
          <a:xfrm>
            <a:off x="4892040" y="460857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Europe’s AI champion routing into CAD through partners.</a:t>
            </a:r>
            <a:endParaRPr lang="en-US" sz="9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406908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23774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PHYSNA · 1/2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78992" y="4572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“Physical DNA” — company &amp; technology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024128"/>
            <a:ext cx="4114800" cy="3803904"/>
          </a:xfrm>
          <a:prstGeom prst="roundRect">
            <a:avLst>
              <a:gd name="adj" fmla="val 168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" y="11704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&amp; funding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1481328"/>
            <a:ext cx="371246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0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2015,</a:t>
            </a:r>
            <a:pPr algn="l" indent="0" marL="0">
              <a:spcAft>
                <a:spcPts val="500"/>
              </a:spcAft>
              <a:buNone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Cincinnati OH, by Paul Powers (CEO, ex-IP lawyer) &amp; Glenn Warner Jr. (CTO, built core algorithm; died Oct 2019)</a:t>
            </a:r>
            <a:endParaRPr lang="en-US" sz="103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0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$2.1M (2017,</a:t>
            </a:r>
            <a:pPr algn="l" indent="0" marL="0">
              <a:spcAft>
                <a:spcPts val="500"/>
              </a:spcAft>
              <a:buNone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Drive Capital) → A $6.9M (2019)</a:t>
            </a:r>
            <a:endParaRPr lang="en-US" sz="103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0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B $20M (Jan 2021)</a:t>
            </a:r>
            <a:pPr algn="l" indent="0" marL="0">
              <a:spcAft>
                <a:spcPts val="500"/>
              </a:spcAft>
              <a:buNone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led by Sequoia (Shaun Maguire joined board)</a:t>
            </a:r>
            <a:endParaRPr lang="en-US" sz="103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0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$56M growth (Jul 2021)</a:t>
            </a:r>
            <a:pPr algn="l" indent="0" marL="0">
              <a:spcAft>
                <a:spcPts val="500"/>
              </a:spcAft>
              <a:buNone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led by Tiger Global, + GV — total ~$86M</a:t>
            </a:r>
            <a:endParaRPr lang="en-US" sz="103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0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disclosed raise since 2021;</a:t>
            </a:r>
            <a:pPr algn="l" indent="0" marL="0">
              <a:spcAft>
                <a:spcPts val="500"/>
              </a:spcAft>
              <a:buNone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valuation never public post-2019 ($27.9M then)</a:t>
            </a:r>
            <a:endParaRPr lang="en-US" sz="103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0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sources say HQ “Columbus”</a:t>
            </a:r>
            <a:pPr algn="l" indent="0" marL="0">
              <a:spcAft>
                <a:spcPts val="500"/>
              </a:spcAft>
              <a:buNone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unannounced move, unconfirmed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4754880" y="1024128"/>
            <a:ext cx="3931920" cy="3803904"/>
          </a:xfrm>
          <a:prstGeom prst="roundRect">
            <a:avLst>
              <a:gd name="adj" fmla="val 16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956048" y="11704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products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956048" y="1481328"/>
            <a:ext cx="352958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0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Codification:</a:t>
            </a:r>
            <a:pPr algn="l" indent="0" marL="0">
              <a:spcAft>
                <a:spcPts val="500"/>
              </a:spcAft>
              <a:buNone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normalizes any CAD/mesh format into a comparable geometric “fingerprint” (patented mesh-hashing)</a:t>
            </a:r>
            <a:endParaRPr lang="en-US" sz="103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0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partial, mirrored &amp; part-in-assembly matches;</a:t>
            </a:r>
            <a:pPr algn="l" indent="0" marL="0">
              <a:spcAft>
                <a:spcPts val="500"/>
              </a:spcAft>
              <a:buNone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works on imperfect scans; scan-vs-CAD QC</a:t>
            </a:r>
            <a:endParaRPr lang="en-US" sz="103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0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Physna Enterprise:</a:t>
            </a:r>
            <a:pPr algn="l" indent="0" marL="0">
              <a:spcAft>
                <a:spcPts val="500"/>
              </a:spcAft>
              <a:buNone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search, dedup, supplier matching, quoting, DFM insight</a:t>
            </a:r>
            <a:endParaRPr lang="en-US" sz="103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0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Thangs.com:</a:t>
            </a:r>
            <a:pPr algn="l" indent="0" marL="0">
              <a:spcAft>
                <a:spcPts val="500"/>
              </a:spcAft>
              <a:buNone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consumer 3D search &amp; community, &gt;24M models indexed</a:t>
            </a:r>
            <a:endParaRPr lang="en-US" sz="103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0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layer:</a:t>
            </a:r>
            <a:pPr algn="l" indent="0" marL="0">
              <a:spcAft>
                <a:spcPts val="500"/>
              </a:spcAft>
              <a:buNone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classification, cost, materials from geometry alone</a:t>
            </a:r>
            <a:endParaRPr lang="en-US" sz="10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406908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23774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PHYSNA · 2/2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78992" y="4572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defense pivot — recent moves &amp; watchpoints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024128"/>
            <a:ext cx="5074920" cy="3803904"/>
          </a:xfrm>
          <a:prstGeom prst="roundRect">
            <a:avLst>
              <a:gd name="adj" fmla="val 16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" y="115214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58368" y="1481328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16233F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1481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~2023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709928" y="144475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“largest known 3D parts repository in the DoD” for the Defense Logistics Agency (with BMNT + Direct Dimensions)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658368" y="2139696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16233F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" y="21396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2024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709928" y="210312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Palantir strategic partnership — 3D insights inside Foundry Ontology &amp; AIP for defense + commercial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658368" y="2798064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16233F"/>
          </a:solidFill>
          <a:ln/>
        </p:spPr>
      </p:sp>
      <p:sp>
        <p:nvSpPr>
          <p:cNvPr id="15" name="Text 12"/>
          <p:cNvSpPr/>
          <p:nvPr/>
        </p:nvSpPr>
        <p:spPr>
          <a:xfrm>
            <a:off x="658368" y="27980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2024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709928" y="276148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Shapeways buys majority of Thangs; Physna refocuses on B2B &amp; government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658368" y="3456432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16233F"/>
          </a:solidFill>
          <a:ln/>
        </p:spPr>
      </p:sp>
      <p:sp>
        <p:nvSpPr>
          <p:cNvPr id="18" name="Text 15"/>
          <p:cNvSpPr/>
          <p:nvPr/>
        </p:nvSpPr>
        <p:spPr>
          <a:xfrm>
            <a:off x="658368" y="34564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709928" y="341985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Palantir-linked deployment at Integrity Tool &amp; Mold (single source); defense-logistics conference circuit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658368" y="411480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16233F"/>
          </a:solidFill>
          <a:ln/>
        </p:spPr>
      </p:sp>
      <p:sp>
        <p:nvSpPr>
          <p:cNvPr id="21" name="Text 18"/>
          <p:cNvSpPr/>
          <p:nvPr/>
        </p:nvSpPr>
        <p:spPr>
          <a:xfrm>
            <a:off x="658368" y="4114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709928" y="407822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Gun-blueprint detection: pitched as the filter behind NY’s 3D-print law &amp; CA AB 2047 — EFF pushback</a:t>
            </a:r>
            <a:endParaRPr lang="en-US" sz="1020" dirty="0"/>
          </a:p>
        </p:txBody>
      </p:sp>
      <p:sp>
        <p:nvSpPr>
          <p:cNvPr id="23" name="Shape 20"/>
          <p:cNvSpPr/>
          <p:nvPr/>
        </p:nvSpPr>
        <p:spPr>
          <a:xfrm>
            <a:off x="5715000" y="1024128"/>
            <a:ext cx="2971800" cy="3803904"/>
          </a:xfrm>
          <a:prstGeom prst="roundRect">
            <a:avLst>
              <a:gd name="adj" fmla="val 2154"/>
            </a:avLst>
          </a:prstGeom>
          <a:solidFill>
            <a:srgbClr val="FDF3E7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304" y="1161288"/>
            <a:ext cx="182880" cy="1828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117336" y="112471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Watchpoints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5897880" y="1426464"/>
            <a:ext cx="260604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98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years, no new funding</a:t>
            </a:r>
            <a:pPr algn="l" indent="0" marL="0">
              <a:spcAft>
                <a:spcPts val="300"/>
              </a:spcAft>
              <a:buNone/>
            </a:pPr>
            <a:r>
              <a:rPr lang="en-US" sz="98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despite ~$86M raised — runway/revenue opaque</a:t>
            </a:r>
            <a:endParaRPr lang="en-US" sz="980" dirty="0"/>
          </a:p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98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“$9.8M, 30 customers”</a:t>
            </a:r>
            <a:pPr algn="l" indent="0" marL="0">
              <a:spcAft>
                <a:spcPts val="300"/>
              </a:spcAft>
              <a:buNone/>
            </a:pPr>
            <a:r>
              <a:rPr lang="en-US" sz="98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(GetLatka) — unverified</a:t>
            </a:r>
            <a:endParaRPr lang="en-US" sz="980" dirty="0"/>
          </a:p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98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generative product;</a:t>
            </a:r>
            <a:pPr algn="l" indent="0" marL="0">
              <a:spcAft>
                <a:spcPts val="300"/>
              </a:spcAft>
              <a:buNone/>
            </a:pPr>
            <a:r>
              <a:rPr lang="en-US" sz="98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text-to-3D never shipped</a:t>
            </a:r>
            <a:endParaRPr lang="en-US" sz="980" dirty="0"/>
          </a:p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98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customers (GE, USAF)</a:t>
            </a:r>
            <a:pPr algn="l" indent="0" marL="0">
              <a:spcAft>
                <a:spcPts val="300"/>
              </a:spcAft>
              <a:buNone/>
            </a:pPr>
            <a:r>
              <a:rPr lang="en-US" sz="98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unverifiable; only DLA documented</a:t>
            </a:r>
            <a:endParaRPr lang="en-US" sz="980" dirty="0"/>
          </a:p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98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Gun-detection line</a:t>
            </a:r>
            <a:pPr algn="l" indent="0" marL="0">
              <a:spcAft>
                <a:spcPts val="300"/>
              </a:spcAft>
              <a:buNone/>
            </a:pPr>
            <a:r>
              <a:rPr lang="en-US" sz="98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politically contested</a:t>
            </a:r>
            <a:endParaRPr lang="en-US" sz="9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406908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23774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METAFOLD 3D · 1/2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78992" y="4572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Implicit geometry kernel — company &amp; technology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024128"/>
            <a:ext cx="4114800" cy="3803904"/>
          </a:xfrm>
          <a:prstGeom prst="roundRect">
            <a:avLst>
              <a:gd name="adj" fmla="val 168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" y="11704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&amp; funding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1481328"/>
            <a:ext cx="371246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0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2020, Toronto</a:t>
            </a:r>
            <a:pPr algn="l" indent="0" marL="0">
              <a:spcAft>
                <a:spcPts val="500"/>
              </a:spcAft>
              <a:buNone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spun out of MESH Consultants after a sportswear-lattice project</a:t>
            </a:r>
            <a:endParaRPr lang="en-US" sz="103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0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Elissa Ross (CEO):</a:t>
            </a:r>
            <a:pPr algn="l" indent="0" marL="0">
              <a:spcAft>
                <a:spcPts val="500"/>
              </a:spcAft>
              <a:buNone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PhD discrete geometry; Daniel Hambleton (CTO): MESH founder; Tom Reslinski (COO→CGO)</a:t>
            </a:r>
            <a:endParaRPr lang="en-US" sz="103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0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quote:</a:t>
            </a:r>
            <a:pPr algn="l" indent="0" marL="0">
              <a:spcAft>
                <a:spcPts val="500"/>
              </a:spcAft>
              <a:buNone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“We can print things we can’t design.”</a:t>
            </a:r>
            <a:endParaRPr lang="en-US" sz="103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0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CA$500K pre-seed (2022,</a:t>
            </a:r>
            <a:pPr algn="l" indent="0" marL="0">
              <a:spcAft>
                <a:spcPts val="500"/>
              </a:spcAft>
              <a:buNone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Active Impact) + CA$2.35M seed (Jul 2023, Differential Ventures, StandUp, Jetstream)</a:t>
            </a:r>
            <a:endParaRPr lang="en-US" sz="103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0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post-seed round found</a:t>
            </a:r>
            <a:pPr algn="l" indent="0" marL="0">
              <a:spcAft>
                <a:spcPts val="500"/>
              </a:spcAft>
              <a:buNone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through Jul 2026; team &lt;25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4754880" y="1024128"/>
            <a:ext cx="3931920" cy="3803904"/>
          </a:xfrm>
          <a:prstGeom prst="roundRect">
            <a:avLst>
              <a:gd name="adj" fmla="val 16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956048" y="11704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956048" y="1481328"/>
            <a:ext cx="352958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0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/ SDF kernel:</a:t>
            </a:r>
            <a:pPr algn="l" indent="0" marL="0">
              <a:spcAft>
                <a:spcPts val="500"/>
              </a:spcAft>
              <a:buNone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geometry as signed-distance functions, sampled on demand — no mesh or B-rep bottleneck</a:t>
            </a:r>
            <a:endParaRPr lang="en-US" sz="103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0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millions of lattice/TPMS unit cells;</a:t>
            </a:r>
            <a:pPr algn="l" indent="0" marL="0">
              <a:spcAft>
                <a:spcPts val="500"/>
              </a:spcAft>
              <a:buNone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robust booleans, offsets, morphological ops</a:t>
            </a:r>
            <a:endParaRPr lang="en-US" sz="103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0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Cloud-native, API-first:</a:t>
            </a:r>
            <a:pPr algn="l" indent="0" marL="0">
              <a:spcAft>
                <a:spcPts val="500"/>
              </a:spcAft>
              <a:buNone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geometry as a backend service, not a desktop CAD app</a:t>
            </a:r>
            <a:endParaRPr lang="en-US" sz="103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0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nTop (desktop app), Dyndrite (GPU toolkit):</a:t>
            </a:r>
            <a:pPr algn="l" indent="0" marL="0">
              <a:spcAft>
                <a:spcPts val="500"/>
              </a:spcAft>
              <a:buNone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wedge is embeddable automation</a:t>
            </a:r>
            <a:endParaRPr lang="en-US" sz="103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0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simulation:</a:t>
            </a:r>
            <a:pPr algn="l" indent="0" marL="0">
              <a:spcAft>
                <a:spcPts val="500"/>
              </a:spcAft>
              <a:buNone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compression/shear/bending digital twins, calibrated foams &amp; rubbers</a:t>
            </a:r>
            <a:endParaRPr lang="en-US" sz="10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406908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23774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METAFOLD 3D · 2/2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78992" y="4572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“Geometric Intelligence” pivot (2025–26)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024128"/>
            <a:ext cx="507492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" y="115214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line today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1463040"/>
            <a:ext cx="4709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50"/>
              </a:spcAft>
              <a:buSzPct val="100000"/>
              <a:buChar char="•"/>
            </a:pPr>
            <a:r>
              <a:rPr lang="en-US" sz="10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Metafold API</a:t>
            </a:r>
            <a:pPr algn="l" indent="0" marL="0">
              <a:spcAft>
                <a:spcPts val="450"/>
              </a:spcAft>
              <a:buNone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Python/JS SDKs — the implicit kernel as a service</a:t>
            </a:r>
            <a:endParaRPr lang="en-US" sz="1030" dirty="0"/>
          </a:p>
          <a:p>
            <a:pPr algn="l" marL="127000" indent="-127000">
              <a:spcAft>
                <a:spcPts val="450"/>
              </a:spcAft>
              <a:buSzPct val="100000"/>
              <a:buChar char="•"/>
            </a:pPr>
            <a:r>
              <a:rPr lang="en-US" sz="10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Intelligence™:</a:t>
            </a:r>
            <a:pPr algn="l" indent="0" marL="0">
              <a:spcAft>
                <a:spcPts val="450"/>
              </a:spcAft>
              <a:buNone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ML-ready feature vectors from any CAD file — wall thickness, DFM checks, similarity search, cost prediction (claims 1,000+ parts/hr)</a:t>
            </a:r>
            <a:endParaRPr lang="en-US" sz="1030" dirty="0"/>
          </a:p>
          <a:p>
            <a:pPr algn="l" marL="127000" indent="-127000">
              <a:spcAft>
                <a:spcPts val="450"/>
              </a:spcAft>
              <a:buSzPct val="100000"/>
              <a:buChar char="•"/>
            </a:pPr>
            <a:r>
              <a:rPr lang="en-US" sz="10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StackUp 3D:</a:t>
            </a:r>
            <a:pPr algn="l" indent="0" marL="0">
              <a:spcAft>
                <a:spcPts val="450"/>
              </a:spcAft>
              <a:buNone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automated tolerance stack-up analysis from assemblies</a:t>
            </a:r>
            <a:endParaRPr lang="en-US" sz="1030" dirty="0"/>
          </a:p>
          <a:p>
            <a:pPr algn="l" marL="127000" indent="-127000">
              <a:spcAft>
                <a:spcPts val="450"/>
              </a:spcAft>
              <a:buSzPct val="100000"/>
              <a:buChar char="•"/>
            </a:pPr>
            <a:r>
              <a:rPr lang="en-US" sz="10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Test Bench:</a:t>
            </a:r>
            <a:pPr algn="l" indent="0" marL="0">
              <a:spcAft>
                <a:spcPts val="450"/>
              </a:spcAft>
              <a:buNone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cloud replication of physical mechanical tests (footwear/sportswear focus)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457200" y="3584448"/>
            <a:ext cx="5074920" cy="1243584"/>
          </a:xfrm>
          <a:prstGeom prst="roundRect">
            <a:avLst>
              <a:gd name="adj" fmla="val 514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8368" y="36941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&amp; ecosystem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58368" y="3986784"/>
            <a:ext cx="4709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0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Safran spotlighted;</a:t>
            </a:r>
            <a:pPr algn="l" indent="0" marL="0">
              <a:spcAft>
                <a:spcPts val="400"/>
              </a:spcAft>
              <a:buNone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logos: Ansys, Autodesk, Mott, SwRI, General Lattice (logo-wall only)</a:t>
            </a:r>
            <a:endParaRPr lang="en-US" sz="103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0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Sportswear + biopharma users;</a:t>
            </a:r>
            <a:pPr algn="l" indent="0" marL="0">
              <a:spcAft>
                <a:spcPts val="400"/>
              </a:spcAft>
              <a:buNone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NGen-funded; Hannover Messe 2025 &amp; 2026 (Canada Pavilion)</a:t>
            </a:r>
            <a:endParaRPr lang="en-US" sz="1030" dirty="0"/>
          </a:p>
        </p:txBody>
      </p:sp>
      <p:sp>
        <p:nvSpPr>
          <p:cNvPr id="12" name="Shape 9"/>
          <p:cNvSpPr/>
          <p:nvPr/>
        </p:nvSpPr>
        <p:spPr>
          <a:xfrm>
            <a:off x="5715000" y="1024128"/>
            <a:ext cx="2971800" cy="3803904"/>
          </a:xfrm>
          <a:prstGeom prst="roundRect">
            <a:avLst>
              <a:gd name="adj" fmla="val 2154"/>
            </a:avLst>
          </a:prstGeom>
          <a:solidFill>
            <a:srgbClr val="FDF3E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304" y="1161288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117336" y="112471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Watchpoints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897880" y="1426464"/>
            <a:ext cx="260604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98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Seed-stage capital only</a:t>
            </a:r>
            <a:pPr algn="l" indent="0" marL="0">
              <a:spcAft>
                <a:spcPts val="300"/>
              </a:spcAft>
              <a:buNone/>
            </a:pPr>
            <a:r>
              <a:rPr lang="en-US" sz="98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sustainability of the pivot unproven</a:t>
            </a:r>
            <a:endParaRPr lang="en-US" sz="980" dirty="0"/>
          </a:p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98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logos undocumented:</a:t>
            </a:r>
            <a:pPr algn="l" indent="0" marL="0">
              <a:spcAft>
                <a:spcPts val="300"/>
              </a:spcAft>
              <a:buNone/>
            </a:pPr>
            <a:r>
              <a:rPr lang="en-US" sz="98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public case studies for Ansys/Autodesk/Safran ties</a:t>
            </a:r>
            <a:endParaRPr lang="en-US" sz="980" dirty="0"/>
          </a:p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98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 &amp; compliance claims</a:t>
            </a:r>
            <a:pPr algn="l" indent="0" marL="0">
              <a:spcAft>
                <a:spcPts val="300"/>
              </a:spcAft>
              <a:buNone/>
            </a:pPr>
            <a:r>
              <a:rPr lang="en-US" sz="98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(ISO 27001, ITAR, “validated” sims) are vendor-stated</a:t>
            </a:r>
            <a:endParaRPr lang="en-US" sz="980" dirty="0"/>
          </a:p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98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neural:</a:t>
            </a:r>
            <a:pPr algn="l" indent="0" marL="0">
              <a:spcAft>
                <a:spcPts val="300"/>
              </a:spcAft>
              <a:buNone/>
            </a:pPr>
            <a:r>
              <a:rPr lang="en-US" sz="98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SDFs are analytic — AI angle is feeding others’ ML, not generative AI</a:t>
            </a:r>
            <a:endParaRPr lang="en-US" sz="9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406908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23774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· 1/2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78992" y="4572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IFM — a model that “speaks engineering”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024128"/>
            <a:ext cx="2651760" cy="1371600"/>
          </a:xfrm>
          <a:prstGeom prst="roundRect">
            <a:avLst>
              <a:gd name="adj" fmla="val 4667"/>
            </a:avLst>
          </a:prstGeom>
          <a:solidFill>
            <a:srgbClr val="E8F3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21792" y="1133856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 PB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21792" y="1627632"/>
            <a:ext cx="23225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 training corpus of verified product data + patents (single origin: EVP Joe Bohman)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91840" y="1024128"/>
            <a:ext cx="2651760" cy="1371600"/>
          </a:xfrm>
          <a:prstGeom prst="roundRect">
            <a:avLst>
              <a:gd name="adj" fmla="val 4667"/>
            </a:avLst>
          </a:prstGeom>
          <a:solidFill>
            <a:srgbClr val="E8F3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456432" y="1133856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€1B / 3 yrs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3456432" y="1627632"/>
            <a:ext cx="23225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industrial-AI investment announced Nov 2025; 1,500 AI experts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126480" y="1024128"/>
            <a:ext cx="2651760" cy="1371600"/>
          </a:xfrm>
          <a:prstGeom prst="roundRect">
            <a:avLst>
              <a:gd name="adj" fmla="val 4667"/>
            </a:avLst>
          </a:prstGeom>
          <a:solidFill>
            <a:srgbClr val="E8F3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91072" y="1133856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copilots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291072" y="1627632"/>
            <a:ext cx="23225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announced CES 2026 across design → simulation → PLM → operations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" y="2606040"/>
            <a:ext cx="5074920" cy="2221992"/>
          </a:xfrm>
          <a:prstGeom prst="roundRect">
            <a:avLst>
              <a:gd name="adj" fmla="val 28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58368" y="273405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58368" y="3035808"/>
            <a:ext cx="4709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Announced Hannover Messe, Mar 31 2025,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co-developed with Microsoft on Azure — not CES 2025, as often misreported</a:t>
            </a:r>
            <a:endParaRPr lang="en-US" sz="100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Natively reads engineering modalities: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3D CAD, 2D drawings, BOMs, simulation, toolpaths, tolerances, time-series</a:t>
            </a:r>
            <a:endParaRPr lang="en-US" sz="100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 generic LLMs “don’t know engineering”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hallucination is catastrophic in factories (Koerte, Bohman)</a:t>
            </a:r>
            <a:endParaRPr lang="en-US" sz="100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by CTO Peter Koerte;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Tali Segall heads the IFM program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715000" y="2606040"/>
            <a:ext cx="2971800" cy="2221992"/>
          </a:xfrm>
          <a:prstGeom prst="roundRect">
            <a:avLst>
              <a:gd name="adj" fmla="val 288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897880" y="27340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feeders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897880" y="3035808"/>
            <a:ext cx="26243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97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Altair (~$10B, closed Mar ’25):</a:t>
            </a:r>
            <a:pPr algn="l" indent="0" marL="0">
              <a:spcAft>
                <a:spcPts val="400"/>
              </a:spcAft>
              <a:buNone/>
            </a:pPr>
            <a:r>
              <a:rPr lang="en-US" sz="97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simulation + knowledge-graph layer</a:t>
            </a:r>
            <a:endParaRPr lang="en-US" sz="97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97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NVIDIA: “Industrial AI OS”</a:t>
            </a:r>
            <a:pPr algn="l" indent="0" marL="0">
              <a:spcAft>
                <a:spcPts val="400"/>
              </a:spcAft>
              <a:buNone/>
            </a:pPr>
            <a:r>
              <a:rPr lang="en-US" sz="97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(CES ’26) — sim, EDA, digital twins</a:t>
            </a:r>
            <a:endParaRPr lang="en-US" sz="97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97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Siemens group:</a:t>
            </a:r>
            <a:pPr algn="l" indent="0" marL="0">
              <a:spcAft>
                <a:spcPts val="400"/>
              </a:spcAft>
              <a:buNone/>
            </a:pPr>
            <a:r>
              <a:rPr lang="en-US" sz="97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7,000 practitioners</a:t>
            </a:r>
            <a:endParaRPr lang="en-US" sz="9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406908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23774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· 2/2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78992" y="4572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IFM surfaces — timeline &amp; open questions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024128"/>
            <a:ext cx="5074920" cy="3803904"/>
          </a:xfrm>
          <a:prstGeom prst="roundRect">
            <a:avLst>
              <a:gd name="adj" fmla="val 16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" y="115214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58368" y="1481328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16233F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1481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2025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709928" y="144475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IFM debut at Hannover Messe (with Microsoft/Azure); Altair closes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58368" y="2048256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16233F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" y="20482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709928" y="20116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 gets AI copilot (summer); NX CAM copilot demo = first public IFM showcase (Aug)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58368" y="2615184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16233F"/>
          </a:solidFill>
          <a:ln/>
        </p:spPr>
      </p:sp>
      <p:sp>
        <p:nvSpPr>
          <p:cNvPr id="15" name="Text 12"/>
          <p:cNvSpPr/>
          <p:nvPr/>
        </p:nvSpPr>
        <p:spPr>
          <a:xfrm>
            <a:off x="658368" y="26151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2025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709928" y="257860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€1B industrial-AI program at Capital Market 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3182112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16233F"/>
          </a:solidFill>
          <a:ln/>
        </p:spPr>
      </p:sp>
      <p:sp>
        <p:nvSpPr>
          <p:cNvPr id="18" name="Text 15"/>
          <p:cNvSpPr/>
          <p:nvPr/>
        </p:nvSpPr>
        <p:spPr>
          <a:xfrm>
            <a:off x="658368" y="3182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2026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709928" y="314553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CES: NVIDIA “Industrial AI OS”, 9 copilots, Digital Twin Composer, Erlangen adaptive factory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58368" y="374904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16233F"/>
          </a:solidFill>
          <a:ln/>
        </p:spPr>
      </p:sp>
      <p:sp>
        <p:nvSpPr>
          <p:cNvPr id="21" name="Text 18"/>
          <p:cNvSpPr/>
          <p:nvPr/>
        </p:nvSpPr>
        <p:spPr>
          <a:xfrm>
            <a:off x="658368" y="3749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2026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709928" y="371246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 Engineering Agent GA in TIA Portal — writes/validates PLC code; 100+ pilot firms, 19 countries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58368" y="4315968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16233F"/>
          </a:solidFill>
          <a:ln/>
        </p:spPr>
      </p:sp>
      <p:sp>
        <p:nvSpPr>
          <p:cNvPr id="24" name="Text 21"/>
          <p:cNvSpPr/>
          <p:nvPr/>
        </p:nvSpPr>
        <p:spPr>
          <a:xfrm>
            <a:off x="658368" y="43159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2026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709928" y="427939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Edge 2026 Design Copilot &amp; Designcenter release tied to IFM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715000" y="1024128"/>
            <a:ext cx="2971800" cy="3803904"/>
          </a:xfrm>
          <a:prstGeom prst="roundRect">
            <a:avLst>
              <a:gd name="adj" fmla="val 2154"/>
            </a:avLst>
          </a:prstGeom>
          <a:solidFill>
            <a:srgbClr val="FDF3E7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304" y="1161288"/>
            <a:ext cx="182880" cy="18288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117336" y="112471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5897880" y="1426464"/>
            <a:ext cx="260604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98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disclosed</a:t>
            </a:r>
            <a:pPr algn="l" indent="0" marL="0">
              <a:spcAft>
                <a:spcPts val="300"/>
              </a:spcAft>
              <a:buNone/>
            </a:pPr>
            <a:r>
              <a:rPr lang="en-US" sz="98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architecture, params, base model, benchmarks</a:t>
            </a:r>
            <a:endParaRPr lang="en-US" sz="980" dirty="0"/>
          </a:p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98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“150 PB” is single-origin</a:t>
            </a:r>
            <a:pPr algn="l" indent="0" marL="0">
              <a:spcAft>
                <a:spcPts val="300"/>
              </a:spcAft>
              <a:buNone/>
            </a:pPr>
            <a:r>
              <a:rPr lang="en-US" sz="98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absent from official press releases</a:t>
            </a:r>
            <a:endParaRPr lang="en-US" sz="980" dirty="0"/>
          </a:p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98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Eigen’s underlying model</a:t>
            </a:r>
            <a:pPr algn="l" indent="0" marL="0">
              <a:spcAft>
                <a:spcPts val="300"/>
              </a:spcAft>
              <a:buNone/>
            </a:pPr>
            <a:r>
              <a:rPr lang="en-US" sz="98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never confirmed as IFM</a:t>
            </a:r>
            <a:endParaRPr lang="en-US" sz="980" dirty="0"/>
          </a:p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98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prompt-to-CAD demo yet:</a:t>
            </a:r>
            <a:pPr algn="l" indent="0" marL="0">
              <a:spcAft>
                <a:spcPts val="300"/>
              </a:spcAft>
              <a:buNone/>
            </a:pPr>
            <a:r>
              <a:rPr lang="en-US" sz="98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shipping copilots are guidance/Q&amp;A, plus CAM &amp; PLC agents</a:t>
            </a:r>
            <a:endParaRPr lang="en-US" sz="980" dirty="0"/>
          </a:p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98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incentives</a:t>
            </a:r>
            <a:pPr algn="l" indent="0" marL="0">
              <a:spcAft>
                <a:spcPts val="300"/>
              </a:spcAft>
              <a:buNone/>
            </a:pPr>
            <a:r>
              <a:rPr lang="en-US" sz="98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training remain unresolved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406908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23774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 · 1/2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78992" y="4572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channels into CAD, by directness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8229600" cy="859536"/>
          </a:xfrm>
          <a:prstGeom prst="roundRect">
            <a:avLst>
              <a:gd name="adj" fmla="val 7447"/>
            </a:avLst>
          </a:prstGeom>
          <a:solidFill>
            <a:srgbClr val="E8F3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1792" y="1252728"/>
            <a:ext cx="365760" cy="36576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8" name="Text 5"/>
          <p:cNvSpPr/>
          <p:nvPr/>
        </p:nvSpPr>
        <p:spPr>
          <a:xfrm>
            <a:off x="621792" y="1252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52144" y="1097280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for Industrial Engineering (May 2026)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152144" y="1344168"/>
            <a:ext cx="7360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Physics-AI from the Emmi AI acquisition: CFD/FEM surrogates predicted from geometry in seconds on one GPU. Ingests CAD/STEP, drawings, sim outputs. Partners named: ASML, Airbus, Safran, Siemens Energy.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457200" y="1975104"/>
            <a:ext cx="8229600" cy="859536"/>
          </a:xfrm>
          <a:prstGeom prst="roundRect">
            <a:avLst>
              <a:gd name="adj" fmla="val 7447"/>
            </a:avLst>
          </a:prstGeom>
          <a:solidFill>
            <a:srgbClr val="E8F3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1792" y="2221992"/>
            <a:ext cx="365760" cy="36576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13" name="Text 10"/>
          <p:cNvSpPr/>
          <p:nvPr/>
        </p:nvSpPr>
        <p:spPr>
          <a:xfrm>
            <a:off x="621792" y="2221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152144" y="2066544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Dassault SOLIDWORKS (Feb 2026)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152144" y="2313432"/>
            <a:ext cx="7360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Aura, Marie, Leo “built on the Mistral AI foundational model” on OUTSCALE sovereign cloud. Leo (mid-2026): sketch-to-3D parametric modeling + prompt-driven surrogate FEA — the closest thing to “Mistral doing CAD.”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457200" y="2944368"/>
            <a:ext cx="8229600" cy="859536"/>
          </a:xfrm>
          <a:prstGeom prst="roundRect">
            <a:avLst>
              <a:gd name="adj" fmla="val 744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1792" y="3191256"/>
            <a:ext cx="365760" cy="36576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18" name="Text 15"/>
          <p:cNvSpPr/>
          <p:nvPr/>
        </p:nvSpPr>
        <p:spPr>
          <a:xfrm>
            <a:off x="621792" y="3191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52144" y="3035808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&amp; defense partnerships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1152144" y="3282696"/>
            <a:ext cx="7360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Airbus (5-yr), BMW, EDF, CMA CGM (May 2026); Stellantis part-reuse engineering tool; ASML €1.3B investment (~11%, ~$14B valuation, Sep 2025); Helsing defense AI; French MoD framework.</a:t>
            </a:r>
            <a:endParaRPr lang="en-US" sz="920" dirty="0"/>
          </a:p>
        </p:txBody>
      </p:sp>
      <p:sp>
        <p:nvSpPr>
          <p:cNvPr id="21" name="Shape 18"/>
          <p:cNvSpPr/>
          <p:nvPr/>
        </p:nvSpPr>
        <p:spPr>
          <a:xfrm>
            <a:off x="457200" y="3913632"/>
            <a:ext cx="8229600" cy="859536"/>
          </a:xfrm>
          <a:prstGeom prst="roundRect">
            <a:avLst>
              <a:gd name="adj" fmla="val 744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21792" y="4160520"/>
            <a:ext cx="365760" cy="36576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23" name="Text 20"/>
          <p:cNvSpPr/>
          <p:nvPr/>
        </p:nvSpPr>
        <p:spPr>
          <a:xfrm>
            <a:off x="621792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152144" y="4005072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Open-weights research ecosystem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152144" y="4251960"/>
            <a:ext cx="7360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Mistral-7B fine-tunes in Text-to-CadQuery (lowest invalid-code rate, 1.32%); used in Text2CAD annotation. But the field runs mostly on Qwen — Mistral’s research footprint is real yet minor.</a:t>
            </a:r>
            <a:endParaRPr lang="en-US" sz="9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406908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8992" y="23774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 · 2/2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78992" y="4572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&amp; reality check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457200" y="1024128"/>
            <a:ext cx="5074920" cy="3803904"/>
          </a:xfrm>
          <a:prstGeom prst="roundRect">
            <a:avLst>
              <a:gd name="adj" fmla="val 16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" y="115214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58368" y="1481328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16233F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1481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2024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709928" y="144475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Dassault Systèmes partnership — LLM-as-a-Service on OUTSCALE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58368" y="2048256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16233F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" y="20482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2025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709928" y="20116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Helsing defense-AI partnership (Vision-Language-Action models)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58368" y="2615184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16233F"/>
          </a:solidFill>
          <a:ln/>
        </p:spPr>
      </p:sp>
      <p:sp>
        <p:nvSpPr>
          <p:cNvPr id="15" name="Text 12"/>
          <p:cNvSpPr/>
          <p:nvPr/>
        </p:nvSpPr>
        <p:spPr>
          <a:xfrm>
            <a:off x="658368" y="26151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2025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709928" y="257860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ASML invests €1.3B (~11% stake; strategic committee seat)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3182112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16233F"/>
          </a:solidFill>
          <a:ln/>
        </p:spPr>
      </p:sp>
      <p:sp>
        <p:nvSpPr>
          <p:cNvPr id="18" name="Text 15"/>
          <p:cNvSpPr/>
          <p:nvPr/>
        </p:nvSpPr>
        <p:spPr>
          <a:xfrm>
            <a:off x="658368" y="3182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2025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709928" y="314553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Ministry of Armed Forces 3-yr framework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58368" y="374904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16233F"/>
          </a:solidFill>
          <a:ln/>
        </p:spPr>
      </p:sp>
      <p:sp>
        <p:nvSpPr>
          <p:cNvPr id="21" name="Text 18"/>
          <p:cNvSpPr/>
          <p:nvPr/>
        </p:nvSpPr>
        <p:spPr>
          <a:xfrm>
            <a:off x="658368" y="3749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2026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709928" y="371246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SOLIDWORKS agents Aura/Marie/Leo revealed on Mistral models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58368" y="4315968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16233F"/>
          </a:solidFill>
          <a:ln/>
        </p:spPr>
      </p:sp>
      <p:sp>
        <p:nvSpPr>
          <p:cNvPr id="24" name="Text 21"/>
          <p:cNvSpPr/>
          <p:nvPr/>
        </p:nvSpPr>
        <p:spPr>
          <a:xfrm>
            <a:off x="658368" y="43159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709928" y="427939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Emmi AI acquired; “Industrial Engineering” launch — Airbus, BMW, EDF, CMA CGM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715000" y="1024128"/>
            <a:ext cx="2971800" cy="3803904"/>
          </a:xfrm>
          <a:prstGeom prst="roundRect">
            <a:avLst>
              <a:gd name="adj" fmla="val 2154"/>
            </a:avLst>
          </a:prstGeom>
          <a:solidFill>
            <a:srgbClr val="FDF3E7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304" y="1161288"/>
            <a:ext cx="182880" cy="18288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117336" y="112471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5897880" y="1426464"/>
            <a:ext cx="260604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98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Mistral text-to-CAD product</a:t>
            </a:r>
            <a:pPr algn="l" indent="0" marL="0">
              <a:spcAft>
                <a:spcPts val="300"/>
              </a:spcAft>
              <a:buNone/>
            </a:pPr>
            <a:r>
              <a:rPr lang="en-US" sz="98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value is LLM reasoning + physics surrogates</a:t>
            </a:r>
            <a:endParaRPr lang="en-US" sz="980" dirty="0"/>
          </a:p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98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Leo’s geometry engine unclear:</a:t>
            </a:r>
            <a:pPr algn="l" indent="0" marL="0">
              <a:spcAft>
                <a:spcPts val="300"/>
              </a:spcAft>
              <a:buNone/>
            </a:pPr>
            <a:r>
              <a:rPr lang="en-US" sz="98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Mistral for language vs. Dassault’s own geometric AI</a:t>
            </a:r>
            <a:endParaRPr lang="en-US" sz="980" dirty="0"/>
          </a:p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98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Emmi price “~€300M”</a:t>
            </a:r>
            <a:pPr algn="l" indent="0" marL="0">
              <a:spcAft>
                <a:spcPts val="300"/>
              </a:spcAft>
              <a:buNone/>
            </a:pPr>
            <a:r>
              <a:rPr lang="en-US" sz="98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single-source; undisclosed</a:t>
            </a:r>
            <a:endParaRPr lang="en-US" sz="980" dirty="0"/>
          </a:p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98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ActuIA: “concrete contracts</a:t>
            </a:r>
            <a:pPr algn="l" indent="0" marL="0">
              <a:spcAft>
                <a:spcPts val="300"/>
              </a:spcAft>
              <a:buNone/>
            </a:pPr>
            <a:r>
              <a:rPr lang="en-US" sz="98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remain sparse” on the industrial launch</a:t>
            </a:r>
            <a:endParaRPr lang="en-US" sz="980" dirty="0"/>
          </a:p>
          <a:p>
            <a:pPr algn="l" marL="127000" indent="-127000">
              <a:spcAft>
                <a:spcPts val="300"/>
              </a:spcAft>
              <a:buSzPct val="100000"/>
              <a:buChar char="•"/>
            </a:pPr>
            <a:r>
              <a:rPr lang="en-US" sz="98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Codestral has no published</a:t>
            </a:r>
            <a:pPr algn="l" indent="0" marL="0">
              <a:spcAft>
                <a:spcPts val="300"/>
              </a:spcAft>
              <a:buNone/>
            </a:pPr>
            <a:r>
              <a:rPr lang="en-US" sz="98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CAD specialization</a:t>
            </a:r>
            <a:endParaRPr lang="en-US" sz="9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D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different bets on AI × geometry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931920" cy="1152144"/>
          </a:xfrm>
          <a:prstGeom prst="roundRect">
            <a:avLst>
              <a:gd name="adj" fmla="val 5556"/>
            </a:avLst>
          </a:prstGeom>
          <a:solidFill>
            <a:srgbClr val="202F52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" y="1472184"/>
            <a:ext cx="347472" cy="347472"/>
          </a:xfrm>
          <a:prstGeom prst="ellipse">
            <a:avLst/>
          </a:prstGeom>
          <a:solidFill>
            <a:srgbClr val="7FD1D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" y="1549908"/>
            <a:ext cx="173736" cy="1737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52144" y="1435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Physna → the data layer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52144" y="1709928"/>
            <a:ext cx="31821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search &amp; codification; moat is the DoD/Palantir defense channel, not generative AI.</a:t>
            </a:r>
            <a:endParaRPr lang="en-US" sz="960" dirty="0"/>
          </a:p>
        </p:txBody>
      </p:sp>
      <p:sp>
        <p:nvSpPr>
          <p:cNvPr id="9" name="Shape 6"/>
          <p:cNvSpPr/>
          <p:nvPr/>
        </p:nvSpPr>
        <p:spPr>
          <a:xfrm>
            <a:off x="4709160" y="1325880"/>
            <a:ext cx="3931920" cy="1152144"/>
          </a:xfrm>
          <a:prstGeom prst="roundRect">
            <a:avLst>
              <a:gd name="adj" fmla="val 5556"/>
            </a:avLst>
          </a:prstGeom>
          <a:solidFill>
            <a:srgbClr val="202F52"/>
          </a:solidFill>
          <a:ln/>
        </p:spPr>
      </p:sp>
      <p:sp>
        <p:nvSpPr>
          <p:cNvPr id="10" name="Shape 7"/>
          <p:cNvSpPr/>
          <p:nvPr/>
        </p:nvSpPr>
        <p:spPr>
          <a:xfrm>
            <a:off x="4855464" y="1472184"/>
            <a:ext cx="347472" cy="347472"/>
          </a:xfrm>
          <a:prstGeom prst="ellipse">
            <a:avLst/>
          </a:prstGeom>
          <a:solidFill>
            <a:srgbClr val="7FD1D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188" y="1549908"/>
            <a:ext cx="173736" cy="1737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12664" y="1435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Metafold → the kernel layer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312664" y="1709928"/>
            <a:ext cx="31821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geometry infrastructure + ML-ready features; smallest player, deepest math.</a:t>
            </a:r>
            <a:endParaRPr lang="en-US" sz="960" dirty="0"/>
          </a:p>
        </p:txBody>
      </p:sp>
      <p:sp>
        <p:nvSpPr>
          <p:cNvPr id="14" name="Shape 10"/>
          <p:cNvSpPr/>
          <p:nvPr/>
        </p:nvSpPr>
        <p:spPr>
          <a:xfrm>
            <a:off x="548640" y="2624328"/>
            <a:ext cx="3931920" cy="1152144"/>
          </a:xfrm>
          <a:prstGeom prst="roundRect">
            <a:avLst>
              <a:gd name="adj" fmla="val 5556"/>
            </a:avLst>
          </a:prstGeom>
          <a:solidFill>
            <a:srgbClr val="202F52"/>
          </a:solidFill>
          <a:ln/>
        </p:spPr>
      </p:sp>
      <p:sp>
        <p:nvSpPr>
          <p:cNvPr id="15" name="Shape 11"/>
          <p:cNvSpPr/>
          <p:nvPr/>
        </p:nvSpPr>
        <p:spPr>
          <a:xfrm>
            <a:off x="694944" y="2770632"/>
            <a:ext cx="347472" cy="347472"/>
          </a:xfrm>
          <a:prstGeom prst="ellipse">
            <a:avLst/>
          </a:prstGeom>
          <a:solidFill>
            <a:srgbClr val="7FD1D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2848356"/>
            <a:ext cx="173736" cy="1737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52144" y="27340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→ the model layer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152144" y="3008376"/>
            <a:ext cx="31821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player training an engineering-native foundation model — but it ships as copilots, and specs stay secret.</a:t>
            </a:r>
            <a:endParaRPr lang="en-US" sz="960" dirty="0"/>
          </a:p>
        </p:txBody>
      </p:sp>
      <p:sp>
        <p:nvSpPr>
          <p:cNvPr id="19" name="Shape 14"/>
          <p:cNvSpPr/>
          <p:nvPr/>
        </p:nvSpPr>
        <p:spPr>
          <a:xfrm>
            <a:off x="4709160" y="2624328"/>
            <a:ext cx="3931920" cy="1152144"/>
          </a:xfrm>
          <a:prstGeom prst="roundRect">
            <a:avLst>
              <a:gd name="adj" fmla="val 5556"/>
            </a:avLst>
          </a:prstGeom>
          <a:solidFill>
            <a:srgbClr val="202F52"/>
          </a:solidFill>
          <a:ln/>
        </p:spPr>
      </p:sp>
      <p:sp>
        <p:nvSpPr>
          <p:cNvPr id="20" name="Shape 15"/>
          <p:cNvSpPr/>
          <p:nvPr/>
        </p:nvSpPr>
        <p:spPr>
          <a:xfrm>
            <a:off x="4855464" y="2770632"/>
            <a:ext cx="347472" cy="347472"/>
          </a:xfrm>
          <a:prstGeom prst="ellipse">
            <a:avLst/>
          </a:prstGeom>
          <a:solidFill>
            <a:srgbClr val="7FD1D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3188" y="2848356"/>
            <a:ext cx="173736" cy="1737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12664" y="27340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→ the enabling layer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312664" y="3008376"/>
            <a:ext cx="31821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CAD product; powers Dassault’s agents and sells physics surrogates to Airbus/ASML-class industrials.</a:t>
            </a:r>
            <a:endParaRPr lang="en-US" sz="960" dirty="0"/>
          </a:p>
        </p:txBody>
      </p:sp>
      <p:sp>
        <p:nvSpPr>
          <p:cNvPr id="24" name="Text 18"/>
          <p:cNvSpPr/>
          <p:nvPr/>
        </p:nvSpPr>
        <p:spPr>
          <a:xfrm>
            <a:off x="548640" y="4114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7FD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thread: </a:t>
            </a:r>
            <a:pPr indent="0" marL="0">
              <a:buNone/>
            </a:pPr>
            <a:r>
              <a:rPr lang="en-US" sz="1050" i="1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ships true prompt-to-CAD yet. Closest: Dassault’s Leo (sketch-to-3D, mid-2026) and Siemens’ CAM/PLC agents. Compiled from public web sources, Jul 7 2026 — adversarial verification pass skipped; single-source claims flagged per slide.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x CAD — Four Players (July 2026)</dc:title>
  <dc:subject>PptxGenJS Presentation</dc:subject>
  <dc:creator>Jiajie Fan</dc:creator>
  <cp:lastModifiedBy>Jiajie Fan</cp:lastModifiedBy>
  <cp:revision>1</cp:revision>
  <dcterms:created xsi:type="dcterms:W3CDTF">2026-07-07T18:29:45Z</dcterms:created>
  <dcterms:modified xsi:type="dcterms:W3CDTF">2026-07-07T18:29:45Z</dcterms:modified>
</cp:coreProperties>
</file>